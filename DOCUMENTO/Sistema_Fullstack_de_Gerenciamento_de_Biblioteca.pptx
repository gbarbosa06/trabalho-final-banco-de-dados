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94219" y="770827"/>
            <a:ext cx="655553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237E"/>
                </a:solidFill>
              </a:rPr>
              <a:t>Sistema Fullstack de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237E"/>
                </a:solidFill>
              </a:rPr>
              <a:t>
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237E"/>
                </a:solidFill>
              </a:rPr>
              <a:t>Sistema de avalição de Livros</a:t>
            </a:r>
            <a:endParaRPr lang="en-US" sz="3294" dirty="0"/>
          </a:p>
        </p:txBody>
      </p:sp>
      <p:sp>
        <p:nvSpPr>
          <p:cNvPr id="5" name="Text 1"/>
          <p:cNvSpPr/>
          <p:nvPr/>
        </p:nvSpPr>
        <p:spPr>
          <a:xfrm>
            <a:off x="1294219" y="2603869"/>
            <a:ext cx="655553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288D1"/>
                </a:solidFill>
              </a:rPr>
              <a:t>Integração de Tecnologias Modernas para Gestão Digital</a:t>
            </a:r>
            <a:endParaRPr lang="en-US" sz="1193" dirty="0"/>
          </a:p>
        </p:txBody>
      </p:sp>
      <p:sp>
        <p:nvSpPr>
          <p:cNvPr id="6" name="Shape 2"/>
          <p:cNvSpPr/>
          <p:nvPr/>
        </p:nvSpPr>
        <p:spPr>
          <a:xfrm>
            <a:off x="571500" y="3203274"/>
            <a:ext cx="8001000" cy="15116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71500" y="3203274"/>
            <a:ext cx="8001000" cy="142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4"/>
          <p:cNvSpPr/>
          <p:nvPr/>
        </p:nvSpPr>
        <p:spPr>
          <a:xfrm>
            <a:off x="571500" y="3431874"/>
            <a:ext cx="80010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FERNANDA FERREIRA DOS REIS | FERNANDO OSÓRIO DE OLIVEIRA</a:t>
            </a:r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
</a:t>
            </a:r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GUILHERME DE ANDRADE BARBOSA | ÍTALO RODRIGUES NERI</a:t>
            </a:r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
</a:t>
            </a:r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JEYSSE VITORIA CAVALCANTE SILVA</a:t>
            </a:r>
            <a:endParaRPr lang="en-US" sz="727" dirty="0"/>
          </a:p>
        </p:txBody>
      </p:sp>
      <p:sp>
        <p:nvSpPr>
          <p:cNvPr id="9" name="Text 5"/>
          <p:cNvSpPr/>
          <p:nvPr/>
        </p:nvSpPr>
        <p:spPr>
          <a:xfrm>
            <a:off x="571500" y="4079081"/>
            <a:ext cx="8001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Curso de Engenharia de Software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571500" y="4307681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Professor: Jefferson Salomão Rodrigues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571500" y="4564856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Brasília, Distrito Federal | 2025</a:t>
            </a:r>
            <a:endParaRPr lang="en-US" sz="6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807244"/>
            <a:ext cx="8001000" cy="21431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Objetivo e Escopo do Projeto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1092994"/>
            <a:ext cx="8001000" cy="1020077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092994"/>
            <a:ext cx="28575" cy="1020077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8" name="Text 5"/>
          <p:cNvSpPr/>
          <p:nvPr/>
        </p:nvSpPr>
        <p:spPr>
          <a:xfrm>
            <a:off x="750094" y="1235869"/>
            <a:ext cx="76438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0288D1"/>
                </a:solidFill>
              </a:rPr>
              <a:t>Objetivo Geral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750094" y="1421606"/>
            <a:ext cx="764381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Desenvolver um sistema fullstack de gerenciamento de biblioteca digital, utilizando React no frontend, Java com Spring Boot no backend, MySQL para armazenamento de usuários e autenticação, e MongoDB para gerenciamento de livros, empréstimos e demais registros operacionais, com foco em desempenho, escalabilidade e boa experiência do usuário.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2727434"/>
            <a:ext cx="8001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00897B"/>
                </a:solidFill>
              </a:rPr>
              <a:t>Objetivos Específicos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571500" y="2984609"/>
            <a:ext cx="171450" cy="171450"/>
          </a:xfrm>
          <a:prstGeom prst="ellipse">
            <a:avLst/>
          </a:prstGeom>
          <a:solidFill>
            <a:srgbClr val="00897B"/>
          </a:solidFill>
          <a:ln w="18288">
            <a:solidFill>
              <a:srgbClr val="0288D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" y="29846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828675" y="2984609"/>
            <a:ext cx="36718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Projetar uma interface web interativa e responsiva com acesso rápido às funcionalidades.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643438" y="2984609"/>
            <a:ext cx="171450" cy="171450"/>
          </a:xfrm>
          <a:prstGeom prst="ellipse">
            <a:avLst/>
          </a:prstGeom>
          <a:solidFill>
            <a:srgbClr val="00897B"/>
          </a:solidFill>
          <a:ln w="18288">
            <a:solidFill>
              <a:srgbClr val="0288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3438" y="29846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4900613" y="2984609"/>
            <a:ext cx="36718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Implementar uma API RESTful em Spring Boot com segurança, modularidade e padronização.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71500" y="3391802"/>
            <a:ext cx="171450" cy="171450"/>
          </a:xfrm>
          <a:prstGeom prst="ellipse">
            <a:avLst/>
          </a:prstGeom>
          <a:solidFill>
            <a:srgbClr val="00897B"/>
          </a:solidFill>
          <a:ln w="18288">
            <a:solidFill>
              <a:srgbClr val="0288D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" y="339180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828675" y="3391802"/>
            <a:ext cx="36718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Integrar MySQL e MongoDB de forma coerente, assegurando consistência e desempenho.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4643438" y="3391802"/>
            <a:ext cx="171450" cy="171450"/>
          </a:xfrm>
          <a:prstGeom prst="ellipse">
            <a:avLst/>
          </a:prstGeom>
          <a:solidFill>
            <a:srgbClr val="00897B"/>
          </a:solidFill>
          <a:ln w="18288">
            <a:solidFill>
              <a:srgbClr val="0288D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43438" y="339180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4900613" y="3391802"/>
            <a:ext cx="36718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Desenvolver autenticação e autorização com diferentes níveis de acesso (Admin/Comum).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571500" y="3798996"/>
            <a:ext cx="171450" cy="171450"/>
          </a:xfrm>
          <a:prstGeom prst="ellipse">
            <a:avLst/>
          </a:prstGeom>
          <a:solidFill>
            <a:srgbClr val="00897B"/>
          </a:solidFill>
          <a:ln w="18288">
            <a:solidFill>
              <a:srgbClr val="0288D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1500" y="379899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5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828675" y="3798996"/>
            <a:ext cx="36718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Criar módulos para cadastro, consulta, empréstimo e devolução de livros com histórico.</a:t>
            </a: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4643438" y="3798996"/>
            <a:ext cx="171450" cy="171450"/>
          </a:xfrm>
          <a:prstGeom prst="ellipse">
            <a:avLst/>
          </a:prstGeom>
          <a:solidFill>
            <a:srgbClr val="00897B"/>
          </a:solidFill>
          <a:ln w="18288">
            <a:solidFill>
              <a:srgbClr val="0288D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43438" y="379899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6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4900613" y="3798996"/>
            <a:ext cx="36718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Garantir persistência e integridade dos dados com boas práticas de modelagem.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77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807244"/>
            <a:ext cx="8001000" cy="21431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Arquitetura Fullstack: Camadas Integradas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1057275"/>
            <a:ext cx="8001000" cy="1170849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057275"/>
            <a:ext cx="800100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8" name="Shape 5"/>
          <p:cNvSpPr/>
          <p:nvPr/>
        </p:nvSpPr>
        <p:spPr>
          <a:xfrm>
            <a:off x="8558213" y="1057275"/>
            <a:ext cx="14288" cy="1170849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213837"/>
            <a:ext cx="800100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1057275"/>
            <a:ext cx="35719" cy="1170849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8"/>
          <p:cNvSpPr/>
          <p:nvPr/>
        </p:nvSpPr>
        <p:spPr>
          <a:xfrm>
            <a:off x="750094" y="1200150"/>
            <a:ext cx="76438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0288D1"/>
                </a:solidFill>
              </a:rPr>
              <a:t>Camada 1: Apresentação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750094" y="1385888"/>
            <a:ext cx="76438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Frontend - React.js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750094" y="1685925"/>
            <a:ext cx="76438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Interface responsiva e interativa para o usuário, com componentes reutilizáveis, gerenciamento de estado e navegação intuitiva.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750094" y="1917371"/>
            <a:ext cx="76438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897B"/>
                </a:solidFill>
              </a:rPr>
              <a:t>📱 Tecnologia: React.js, JavaScript, CSS Responsivo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571500" y="2270987"/>
            <a:ext cx="8001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288D1"/>
                </a:solidFill>
              </a:rPr>
              <a:t>↓ API REST (HTTP/JSON) ↓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571500" y="2535306"/>
            <a:ext cx="8001000" cy="1170849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2535306"/>
            <a:ext cx="800100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8" name="Shape 15"/>
          <p:cNvSpPr/>
          <p:nvPr/>
        </p:nvSpPr>
        <p:spPr>
          <a:xfrm>
            <a:off x="8558213" y="2535306"/>
            <a:ext cx="14288" cy="1170849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3691868"/>
            <a:ext cx="800100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0" name="Shape 17"/>
          <p:cNvSpPr/>
          <p:nvPr/>
        </p:nvSpPr>
        <p:spPr>
          <a:xfrm>
            <a:off x="571500" y="2535306"/>
            <a:ext cx="35719" cy="1170849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Text 18"/>
          <p:cNvSpPr/>
          <p:nvPr/>
        </p:nvSpPr>
        <p:spPr>
          <a:xfrm>
            <a:off x="750094" y="2678181"/>
            <a:ext cx="76438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0288D1"/>
                </a:solidFill>
              </a:rPr>
              <a:t>Camada 2: Lógica de Negócios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750094" y="2863918"/>
            <a:ext cx="76438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Backend - Java + Spring Boot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750094" y="3163956"/>
            <a:ext cx="76438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Processamento de requisições, implementação de regras de negócio, autenticação com JWT, e orquestração da persistência de dados.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750094" y="3395402"/>
            <a:ext cx="76438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897B"/>
                </a:solidFill>
              </a:rPr>
              <a:t>⚙️ Tecnologia: Java, Spring Boot, Spring Data JPA, JWT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571500" y="3749018"/>
            <a:ext cx="8001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↓ Consultas/Transações ↓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571500" y="4013336"/>
            <a:ext cx="8001000" cy="1628775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71500" y="4013336"/>
            <a:ext cx="800100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8" name="Shape 25"/>
          <p:cNvSpPr/>
          <p:nvPr/>
        </p:nvSpPr>
        <p:spPr>
          <a:xfrm>
            <a:off x="8558213" y="4013336"/>
            <a:ext cx="14288" cy="1628775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9" name="Shape 26"/>
          <p:cNvSpPr/>
          <p:nvPr/>
        </p:nvSpPr>
        <p:spPr>
          <a:xfrm>
            <a:off x="571500" y="5627824"/>
            <a:ext cx="800100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0" name="Shape 27"/>
          <p:cNvSpPr/>
          <p:nvPr/>
        </p:nvSpPr>
        <p:spPr>
          <a:xfrm>
            <a:off x="571500" y="4013336"/>
            <a:ext cx="35719" cy="1628775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1" name="Text 28"/>
          <p:cNvSpPr/>
          <p:nvPr/>
        </p:nvSpPr>
        <p:spPr>
          <a:xfrm>
            <a:off x="750094" y="4156211"/>
            <a:ext cx="76438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0288D1"/>
                </a:solidFill>
              </a:rPr>
              <a:t>Camada 3: Persistência (Híbrida)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750094" y="4341949"/>
            <a:ext cx="76438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Bancos de Dados</a:t>
            </a:r>
            <a:endParaRPr lang="en-US" sz="987" dirty="0"/>
          </a:p>
        </p:txBody>
      </p:sp>
      <p:sp>
        <p:nvSpPr>
          <p:cNvPr id="33" name="Shape 30"/>
          <p:cNvSpPr/>
          <p:nvPr/>
        </p:nvSpPr>
        <p:spPr>
          <a:xfrm>
            <a:off x="750094" y="4641986"/>
            <a:ext cx="3768328" cy="603647"/>
          </a:xfrm>
          <a:prstGeom prst="rect">
            <a:avLst/>
          </a:prstGeom>
          <a:solidFill>
            <a:srgbClr val="FFFFFF"/>
          </a:solidFill>
          <a:ln w="9144">
            <a:solidFill>
              <a:srgbClr val="0288D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0094" y="4641986"/>
            <a:ext cx="3768328" cy="60364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288D1"/>
                </a:solidFill>
              </a:rPr>
              <a:t>MySQL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Usuários &amp;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Autenticação</a:t>
            </a:r>
            <a:endParaRPr lang="en-US" sz="634" dirty="0"/>
          </a:p>
        </p:txBody>
      </p:sp>
      <p:sp>
        <p:nvSpPr>
          <p:cNvPr id="35" name="Shape 32"/>
          <p:cNvSpPr/>
          <p:nvPr/>
        </p:nvSpPr>
        <p:spPr>
          <a:xfrm>
            <a:off x="4625578" y="4641986"/>
            <a:ext cx="3768328" cy="603647"/>
          </a:xfrm>
          <a:prstGeom prst="rect">
            <a:avLst/>
          </a:prstGeom>
          <a:solidFill>
            <a:srgbClr val="FFFFFF"/>
          </a:solidFill>
          <a:ln w="9144">
            <a:solidFill>
              <a:srgbClr val="0288D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25578" y="4641986"/>
            <a:ext cx="3768328" cy="60364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897B"/>
                </a:solidFill>
              </a:rPr>
              <a:t>MongoDB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Livros &amp;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Empréstimos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750094" y="5317071"/>
            <a:ext cx="76438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897B"/>
                </a:solidFill>
              </a:rPr>
              <a:t>💾 Bancos: MySQL (Relacional) + MongoDB (NoSQL)</a:t>
            </a:r>
            <a:endParaRPr lang="en-US" sz="6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807244"/>
            <a:ext cx="8001000" cy="21431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Tecnologias Utilizadas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1594228"/>
            <a:ext cx="8001000" cy="364331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594228"/>
            <a:ext cx="120015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Camada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1771650" y="1594228"/>
            <a:ext cx="16002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Tecnologia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3371850" y="1594228"/>
            <a:ext cx="200025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Função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5372100" y="1594228"/>
            <a:ext cx="3200400" cy="364331"/>
          </a:xfrm>
          <a:prstGeom prst="rect">
            <a:avLst/>
          </a:prstGeom>
          <a:noFill/>
          <a:ln/>
        </p:spPr>
        <p:txBody>
          <a:bodyPr wrap="square" lIns="102108" tIns="127508" rIns="102108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Justificativa</a:t>
            </a:r>
            <a:endParaRPr lang="en-US" sz="634" dirty="0"/>
          </a:p>
        </p:txBody>
      </p:sp>
      <p:sp>
        <p:nvSpPr>
          <p:cNvPr id="11" name="Shape 8"/>
          <p:cNvSpPr/>
          <p:nvPr/>
        </p:nvSpPr>
        <p:spPr>
          <a:xfrm>
            <a:off x="571500" y="1958560"/>
            <a:ext cx="8001000" cy="540023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12" name="Shape 9"/>
          <p:cNvSpPr/>
          <p:nvPr/>
        </p:nvSpPr>
        <p:spPr>
          <a:xfrm>
            <a:off x="657225" y="2126773"/>
            <a:ext cx="597675" cy="17502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0"/>
          <p:cNvSpPr/>
          <p:nvPr/>
        </p:nvSpPr>
        <p:spPr>
          <a:xfrm>
            <a:off x="657225" y="2126773"/>
            <a:ext cx="597675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Frontend</a:t>
            </a:r>
            <a:endParaRPr lang="en-US" sz="534" dirty="0"/>
          </a:p>
        </p:txBody>
      </p:sp>
      <p:sp>
        <p:nvSpPr>
          <p:cNvPr id="14" name="Text 11"/>
          <p:cNvSpPr/>
          <p:nvPr/>
        </p:nvSpPr>
        <p:spPr>
          <a:xfrm>
            <a:off x="1857375" y="2164277"/>
            <a:ext cx="3890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288D1"/>
                </a:solidFill>
              </a:rPr>
              <a:t>React.js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3371850" y="1958560"/>
            <a:ext cx="2000250" cy="540023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Interface responsiva e interativa para o usuário.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5372100" y="1958560"/>
            <a:ext cx="3200400" cy="540023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Alta performance, reutilização de componentes, facilidade de integração com APIs REST e ampla comunidade de suporte.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571500" y="2498582"/>
            <a:ext cx="8001000" cy="532879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Shape 15"/>
          <p:cNvSpPr/>
          <p:nvPr/>
        </p:nvSpPr>
        <p:spPr>
          <a:xfrm>
            <a:off x="657225" y="2659652"/>
            <a:ext cx="535977" cy="17502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Text 16"/>
          <p:cNvSpPr/>
          <p:nvPr/>
        </p:nvSpPr>
        <p:spPr>
          <a:xfrm>
            <a:off x="657225" y="2659652"/>
            <a:ext cx="535977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Backend</a:t>
            </a:r>
            <a:endParaRPr lang="en-US" sz="534" dirty="0"/>
          </a:p>
        </p:txBody>
      </p:sp>
      <p:sp>
        <p:nvSpPr>
          <p:cNvPr id="20" name="Text 17"/>
          <p:cNvSpPr/>
          <p:nvPr/>
        </p:nvSpPr>
        <p:spPr>
          <a:xfrm>
            <a:off x="1857375" y="2697156"/>
            <a:ext cx="9038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288D1"/>
                </a:solidFill>
              </a:rPr>
              <a:t>Java + Spring Boot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3371850" y="2498582"/>
            <a:ext cx="2000250" cy="532879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Lógica de negócios, API RESTful e orquestração de dados.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5372100" y="2498582"/>
            <a:ext cx="3200400" cy="532879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Robustez, segurança, produtividade, configuração automática, injeção de dependência e suporte integrado a segurança e APIs REST.</a:t>
            </a:r>
            <a:endParaRPr lang="en-US" sz="674" dirty="0"/>
          </a:p>
        </p:txBody>
      </p:sp>
      <p:sp>
        <p:nvSpPr>
          <p:cNvPr id="23" name="Shape 20"/>
          <p:cNvSpPr/>
          <p:nvPr/>
        </p:nvSpPr>
        <p:spPr>
          <a:xfrm>
            <a:off x="571500" y="3031461"/>
            <a:ext cx="8001000" cy="532879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24" name="Shape 21"/>
          <p:cNvSpPr/>
          <p:nvPr/>
        </p:nvSpPr>
        <p:spPr>
          <a:xfrm>
            <a:off x="657225" y="3192531"/>
            <a:ext cx="727184" cy="17502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5" name="Text 22"/>
          <p:cNvSpPr/>
          <p:nvPr/>
        </p:nvSpPr>
        <p:spPr>
          <a:xfrm>
            <a:off x="657225" y="3192531"/>
            <a:ext cx="727184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Persistência</a:t>
            </a:r>
            <a:endParaRPr lang="en-US" sz="534" dirty="0"/>
          </a:p>
        </p:txBody>
      </p:sp>
      <p:sp>
        <p:nvSpPr>
          <p:cNvPr id="26" name="Text 23"/>
          <p:cNvSpPr/>
          <p:nvPr/>
        </p:nvSpPr>
        <p:spPr>
          <a:xfrm>
            <a:off x="1857375" y="3230035"/>
            <a:ext cx="3424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288D1"/>
                </a:solidFill>
              </a:rPr>
              <a:t>MySQL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3371850" y="3031461"/>
            <a:ext cx="2000250" cy="532879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Armazenamento de usuários e autenticação.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5372100" y="3031461"/>
            <a:ext cx="3200400" cy="532879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Banco relacional estruturado, ideal para dados consistentes, suporte a transações e integração nativa com Spring Data JPA.</a:t>
            </a:r>
            <a:endParaRPr lang="en-US" sz="674" dirty="0"/>
          </a:p>
        </p:txBody>
      </p:sp>
      <p:sp>
        <p:nvSpPr>
          <p:cNvPr id="29" name="Shape 26"/>
          <p:cNvSpPr/>
          <p:nvPr/>
        </p:nvSpPr>
        <p:spPr>
          <a:xfrm>
            <a:off x="571500" y="3564341"/>
            <a:ext cx="8001000" cy="681447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Shape 27"/>
          <p:cNvSpPr/>
          <p:nvPr/>
        </p:nvSpPr>
        <p:spPr>
          <a:xfrm>
            <a:off x="657225" y="3799694"/>
            <a:ext cx="727184" cy="17502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1" name="Text 28"/>
          <p:cNvSpPr/>
          <p:nvPr/>
        </p:nvSpPr>
        <p:spPr>
          <a:xfrm>
            <a:off x="657225" y="3799694"/>
            <a:ext cx="727184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Persistência</a:t>
            </a:r>
            <a:endParaRPr lang="en-US" sz="534" dirty="0"/>
          </a:p>
        </p:txBody>
      </p:sp>
      <p:sp>
        <p:nvSpPr>
          <p:cNvPr id="32" name="Text 29"/>
          <p:cNvSpPr/>
          <p:nvPr/>
        </p:nvSpPr>
        <p:spPr>
          <a:xfrm>
            <a:off x="1857375" y="3837198"/>
            <a:ext cx="4883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288D1"/>
                </a:solidFill>
              </a:rPr>
              <a:t>MongoDB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3371850" y="3564341"/>
            <a:ext cx="2000250" cy="68144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Armazenamento de livros, empréstimos e histórico.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5372100" y="3564341"/>
            <a:ext cx="3200400" cy="681447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Banco NoSQL orientado a documentos, flexibilidade na modelagem, agilidade em consultas de grande volume e suporte a estruturas dinâmicas.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807244"/>
            <a:ext cx="8001000" cy="21431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Banco de Dados Relacional: MySQL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950119"/>
            <a:ext cx="80010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O MySQL armazena informações estruturadas de usuários e autenticação, garantindo consistência, segurança e integridade referencial através de um modelo relacional bem definido.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571500" y="1448730"/>
            <a:ext cx="3893344" cy="2413192"/>
          </a:xfrm>
          <a:prstGeom prst="rect">
            <a:avLst/>
          </a:prstGeom>
          <a:solidFill>
            <a:srgbClr val="F5F9FF"/>
          </a:solidFill>
          <a:ln w="18288">
            <a:solidFill>
              <a:srgbClr val="0288D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448730"/>
            <a:ext cx="3893344" cy="321469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448730"/>
            <a:ext cx="3893344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📋 Tabela: grupos_usuarios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57225" y="1845208"/>
            <a:ext cx="8480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id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2603897" y="1850566"/>
            <a:ext cx="2169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897B"/>
                </a:solidFill>
              </a:rPr>
              <a:t>UUID</a:t>
            </a:r>
            <a:endParaRPr lang="en-US" sz="621" dirty="0"/>
          </a:p>
        </p:txBody>
      </p:sp>
      <p:sp>
        <p:nvSpPr>
          <p:cNvPr id="12" name="Shape 9"/>
          <p:cNvSpPr/>
          <p:nvPr/>
        </p:nvSpPr>
        <p:spPr>
          <a:xfrm>
            <a:off x="2820888" y="1841636"/>
            <a:ext cx="185235" cy="146447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3" name="Text 10"/>
          <p:cNvSpPr/>
          <p:nvPr/>
        </p:nvSpPr>
        <p:spPr>
          <a:xfrm>
            <a:off x="2820888" y="1841636"/>
            <a:ext cx="185235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PK</a:t>
            </a:r>
            <a:endParaRPr lang="en-US" sz="534" dirty="0"/>
          </a:p>
        </p:txBody>
      </p:sp>
      <p:sp>
        <p:nvSpPr>
          <p:cNvPr id="14" name="Text 11"/>
          <p:cNvSpPr/>
          <p:nvPr/>
        </p:nvSpPr>
        <p:spPr>
          <a:xfrm>
            <a:off x="657225" y="2138102"/>
            <a:ext cx="26013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nome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2603897" y="2143460"/>
            <a:ext cx="5804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897B"/>
                </a:solidFill>
              </a:rPr>
              <a:t>VARCHAR(100)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657225" y="2429210"/>
            <a:ext cx="4297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descricao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2603897" y="2434568"/>
            <a:ext cx="1932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897B"/>
                </a:solidFill>
              </a:rPr>
              <a:t>TEXT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4679156" y="1448730"/>
            <a:ext cx="3893344" cy="2413192"/>
          </a:xfrm>
          <a:prstGeom prst="rect">
            <a:avLst/>
          </a:prstGeom>
          <a:solidFill>
            <a:srgbClr val="F5F9FF"/>
          </a:solidFill>
          <a:ln w="18288">
            <a:solidFill>
              <a:srgbClr val="0288D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79156" y="1448730"/>
            <a:ext cx="3893344" cy="321469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Text 17"/>
          <p:cNvSpPr/>
          <p:nvPr/>
        </p:nvSpPr>
        <p:spPr>
          <a:xfrm>
            <a:off x="4679156" y="1448730"/>
            <a:ext cx="3893344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👤 Tabela: usuarios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4764881" y="1845208"/>
            <a:ext cx="8480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id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6711553" y="1850566"/>
            <a:ext cx="2169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897B"/>
                </a:solidFill>
              </a:rPr>
              <a:t>UUID</a:t>
            </a:r>
            <a:endParaRPr lang="en-US" sz="621" dirty="0"/>
          </a:p>
        </p:txBody>
      </p:sp>
      <p:sp>
        <p:nvSpPr>
          <p:cNvPr id="23" name="Shape 20"/>
          <p:cNvSpPr/>
          <p:nvPr/>
        </p:nvSpPr>
        <p:spPr>
          <a:xfrm>
            <a:off x="6928545" y="1841636"/>
            <a:ext cx="185235" cy="146447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4" name="Text 21"/>
          <p:cNvSpPr/>
          <p:nvPr/>
        </p:nvSpPr>
        <p:spPr>
          <a:xfrm>
            <a:off x="6928545" y="1841636"/>
            <a:ext cx="185235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PK</a:t>
            </a:r>
            <a:endParaRPr lang="en-US" sz="534" dirty="0"/>
          </a:p>
        </p:txBody>
      </p:sp>
      <p:sp>
        <p:nvSpPr>
          <p:cNvPr id="25" name="Text 22"/>
          <p:cNvSpPr/>
          <p:nvPr/>
        </p:nvSpPr>
        <p:spPr>
          <a:xfrm>
            <a:off x="4764881" y="2138102"/>
            <a:ext cx="26013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nome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6711553" y="2143460"/>
            <a:ext cx="5804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897B"/>
                </a:solidFill>
              </a:rPr>
              <a:t>VARCHAR(255)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4764881" y="2430996"/>
            <a:ext cx="25139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email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6711553" y="2436354"/>
            <a:ext cx="5804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897B"/>
                </a:solidFill>
              </a:rPr>
              <a:t>VARCHAR(255)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7292011" y="2427424"/>
            <a:ext cx="400469" cy="146447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0" name="Text 27"/>
          <p:cNvSpPr/>
          <p:nvPr/>
        </p:nvSpPr>
        <p:spPr>
          <a:xfrm>
            <a:off x="7292011" y="2427424"/>
            <a:ext cx="400469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UNIQUE</a:t>
            </a:r>
            <a:endParaRPr lang="en-US" sz="534" dirty="0"/>
          </a:p>
        </p:txBody>
      </p:sp>
      <p:sp>
        <p:nvSpPr>
          <p:cNvPr id="31" name="Text 28"/>
          <p:cNvSpPr/>
          <p:nvPr/>
        </p:nvSpPr>
        <p:spPr>
          <a:xfrm>
            <a:off x="4764881" y="2723890"/>
            <a:ext cx="27333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senha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6711553" y="2729247"/>
            <a:ext cx="5804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897B"/>
                </a:solidFill>
              </a:rPr>
              <a:t>VARCHAR(255)</a:t>
            </a: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4764881" y="3013211"/>
            <a:ext cx="6373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data_cadastro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6711553" y="3018569"/>
            <a:ext cx="47528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897B"/>
                </a:solidFill>
              </a:rPr>
              <a:t>TIMESTAMP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4764881" y="3302533"/>
            <a:ext cx="22670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ativo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6711553" y="3307891"/>
            <a:ext cx="4021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897B"/>
                </a:solidFill>
              </a:rPr>
              <a:t>BOOLEAN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4764881" y="3595427"/>
            <a:ext cx="39776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237E"/>
                </a:solidFill>
              </a:rPr>
              <a:t>grupo_id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6711553" y="3600785"/>
            <a:ext cx="2169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00897B"/>
                </a:solidFill>
              </a:rPr>
              <a:t>UUID</a:t>
            </a:r>
            <a:endParaRPr lang="en-US" sz="621" dirty="0"/>
          </a:p>
        </p:txBody>
      </p:sp>
      <p:sp>
        <p:nvSpPr>
          <p:cNvPr id="39" name="Shape 36"/>
          <p:cNvSpPr/>
          <p:nvPr/>
        </p:nvSpPr>
        <p:spPr>
          <a:xfrm>
            <a:off x="6928545" y="3591855"/>
            <a:ext cx="178845" cy="146447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0" name="Text 37"/>
          <p:cNvSpPr/>
          <p:nvPr/>
        </p:nvSpPr>
        <p:spPr>
          <a:xfrm>
            <a:off x="6928545" y="3591855"/>
            <a:ext cx="178845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FK</a:t>
            </a:r>
            <a:endParaRPr lang="en-US" sz="534" dirty="0"/>
          </a:p>
        </p:txBody>
      </p:sp>
      <p:sp>
        <p:nvSpPr>
          <p:cNvPr id="41" name="Shape 38"/>
          <p:cNvSpPr/>
          <p:nvPr/>
        </p:nvSpPr>
        <p:spPr>
          <a:xfrm>
            <a:off x="571500" y="4040516"/>
            <a:ext cx="8001000" cy="74579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571500" y="4040516"/>
            <a:ext cx="28575" cy="74579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3" name="Text 40"/>
          <p:cNvSpPr/>
          <p:nvPr/>
        </p:nvSpPr>
        <p:spPr>
          <a:xfrm>
            <a:off x="678656" y="4147672"/>
            <a:ext cx="77866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00897B"/>
                </a:solidFill>
              </a:rPr>
              <a:t>🔗 Relacionamento</a:t>
            </a:r>
            <a:endParaRPr lang="en-US" sz="584" dirty="0"/>
          </a:p>
        </p:txBody>
      </p:sp>
      <p:sp>
        <p:nvSpPr>
          <p:cNvPr id="44" name="Text 41"/>
          <p:cNvSpPr/>
          <p:nvPr/>
        </p:nvSpPr>
        <p:spPr>
          <a:xfrm>
            <a:off x="678656" y="4333410"/>
            <a:ext cx="77866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Tipo: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Um-para-Muitos (1:N) |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Descrição: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 Um grupo pode ter vários usuários, mas cada usuário pertence a apenas um grupo.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678656" y="4550569"/>
            <a:ext cx="77866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i="1" dirty="0">
                <a:solidFill>
                  <a:srgbClr val="0288D1"/>
                </a:solidFill>
              </a:rPr>
              <a:t>✓ Chave Estrangeira: usuarios.grupo_id → grupos_usuarios.id | Garante integridade referencial e facilita controle de acesso baseado em grupos.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633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807244"/>
            <a:ext cx="8001000" cy="2143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Banco de Dados NoSQL: MongoDB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057275"/>
            <a:ext cx="3893344" cy="27860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Justificativa de Uso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443038"/>
            <a:ext cx="38933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00897B"/>
                </a:solidFill>
              </a:rPr>
              <a:t>Por que MongoDB?</a:t>
            </a:r>
            <a:endParaRPr lang="en-US" sz="584" dirty="0"/>
          </a:p>
        </p:txBody>
      </p:sp>
      <p:sp>
        <p:nvSpPr>
          <p:cNvPr id="8" name="Shape 5"/>
          <p:cNvSpPr/>
          <p:nvPr/>
        </p:nvSpPr>
        <p:spPr>
          <a:xfrm>
            <a:off x="571500" y="1657350"/>
            <a:ext cx="3893344" cy="635794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657350"/>
            <a:ext cx="28575" cy="635794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0" name="Text 7"/>
          <p:cNvSpPr/>
          <p:nvPr/>
        </p:nvSpPr>
        <p:spPr>
          <a:xfrm>
            <a:off x="678656" y="1743075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Flexibilidade de Schema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78656" y="1928813"/>
            <a:ext cx="367903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Permite armazenar documentos JSON com estruturas variadas, sem necessidade de migração rígida de esquema.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571500" y="2378869"/>
            <a:ext cx="3893344" cy="635794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2378869"/>
            <a:ext cx="28575" cy="635794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4" name="Text 11"/>
          <p:cNvSpPr/>
          <p:nvPr/>
        </p:nvSpPr>
        <p:spPr>
          <a:xfrm>
            <a:off x="678656" y="2464594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Escalabilidade Horizontal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78656" y="2650331"/>
            <a:ext cx="367903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Suporta sharding nativo, distribuindo dados entre múltiplos servidores para crescimento ilimitado.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571500" y="3100388"/>
            <a:ext cx="3893344" cy="635794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3100388"/>
            <a:ext cx="28575" cy="635794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8" name="Text 15"/>
          <p:cNvSpPr/>
          <p:nvPr/>
        </p:nvSpPr>
        <p:spPr>
          <a:xfrm>
            <a:off x="678656" y="3186113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Desempenho em Leitura/Escrita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678656" y="3371850"/>
            <a:ext cx="367903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Otimizado para operações rápidas em grandes volumes de dados dinâmicos e consultas complexas.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571500" y="3821906"/>
            <a:ext cx="3893344" cy="496491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3821906"/>
            <a:ext cx="28575" cy="496491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2" name="Text 19"/>
          <p:cNvSpPr/>
          <p:nvPr/>
        </p:nvSpPr>
        <p:spPr>
          <a:xfrm>
            <a:off x="678656" y="3907631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Indexação Avançada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78656" y="4093369"/>
            <a:ext cx="36790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Suporte a índices compostos, text search e geoespaciais para consultas eficientes.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4679156" y="1057275"/>
            <a:ext cx="3893344" cy="27860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Aplicação no Projeto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4679156" y="1443038"/>
            <a:ext cx="38933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00897B"/>
                </a:solidFill>
              </a:rPr>
              <a:t>Coleções Armazenadas</a:t>
            </a:r>
            <a:endParaRPr lang="en-US" sz="584" dirty="0"/>
          </a:p>
        </p:txBody>
      </p:sp>
      <p:sp>
        <p:nvSpPr>
          <p:cNvPr id="26" name="Shape 23"/>
          <p:cNvSpPr/>
          <p:nvPr/>
        </p:nvSpPr>
        <p:spPr>
          <a:xfrm>
            <a:off x="4679156" y="1657350"/>
            <a:ext cx="3893344" cy="747192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27" name="Shape 24"/>
          <p:cNvSpPr/>
          <p:nvPr/>
        </p:nvSpPr>
        <p:spPr>
          <a:xfrm>
            <a:off x="4679156" y="1657350"/>
            <a:ext cx="3893344" cy="142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8" name="Shape 25"/>
          <p:cNvSpPr/>
          <p:nvPr/>
        </p:nvSpPr>
        <p:spPr>
          <a:xfrm>
            <a:off x="8558213" y="1657350"/>
            <a:ext cx="14288" cy="74719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9" name="Shape 26"/>
          <p:cNvSpPr/>
          <p:nvPr/>
        </p:nvSpPr>
        <p:spPr>
          <a:xfrm>
            <a:off x="4679156" y="2390254"/>
            <a:ext cx="3893344" cy="142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0" name="Shape 27"/>
          <p:cNvSpPr/>
          <p:nvPr/>
        </p:nvSpPr>
        <p:spPr>
          <a:xfrm>
            <a:off x="4679156" y="1657350"/>
            <a:ext cx="35719" cy="74719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1" name="Text 28"/>
          <p:cNvSpPr/>
          <p:nvPr/>
        </p:nvSpPr>
        <p:spPr>
          <a:xfrm>
            <a:off x="4786313" y="1764506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📚 Coleção: Livros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4786313" y="1971675"/>
            <a:ext cx="367903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288D1"/>
                </a:solidFill>
              </a:rPr>
              <a:t>Campos: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ID, título, autor, gênero, ano de publicação, quantidade disponível,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sinopse, data de cadastro, metadados adicionais.</a:t>
            </a:r>
            <a:endParaRPr lang="en-US" sz="634" dirty="0"/>
          </a:p>
        </p:txBody>
      </p:sp>
      <p:sp>
        <p:nvSpPr>
          <p:cNvPr id="33" name="Shape 30"/>
          <p:cNvSpPr/>
          <p:nvPr/>
        </p:nvSpPr>
        <p:spPr>
          <a:xfrm>
            <a:off x="4679156" y="2461692"/>
            <a:ext cx="3893344" cy="747192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34" name="Shape 31"/>
          <p:cNvSpPr/>
          <p:nvPr/>
        </p:nvSpPr>
        <p:spPr>
          <a:xfrm>
            <a:off x="4679156" y="2461692"/>
            <a:ext cx="3893344" cy="142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5" name="Shape 32"/>
          <p:cNvSpPr/>
          <p:nvPr/>
        </p:nvSpPr>
        <p:spPr>
          <a:xfrm>
            <a:off x="8558213" y="2461692"/>
            <a:ext cx="14288" cy="74719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6" name="Shape 33"/>
          <p:cNvSpPr/>
          <p:nvPr/>
        </p:nvSpPr>
        <p:spPr>
          <a:xfrm>
            <a:off x="4679156" y="3194596"/>
            <a:ext cx="3893344" cy="142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7" name="Shape 34"/>
          <p:cNvSpPr/>
          <p:nvPr/>
        </p:nvSpPr>
        <p:spPr>
          <a:xfrm>
            <a:off x="4679156" y="2461692"/>
            <a:ext cx="35719" cy="74719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8" name="Text 35"/>
          <p:cNvSpPr/>
          <p:nvPr/>
        </p:nvSpPr>
        <p:spPr>
          <a:xfrm>
            <a:off x="4786313" y="2568848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🔄 Coleção: Avaliação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4786313" y="2776017"/>
            <a:ext cx="367903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288D1"/>
                </a:solidFill>
              </a:rPr>
              <a:t>Campos: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ID do empréstimo, ID do usuário, ID do livro, data de retirada, prazo de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devolução, status (ativo/devolvido), multa (se aplicável).</a:t>
            </a:r>
            <a:endParaRPr lang="en-US" sz="634" dirty="0"/>
          </a:p>
        </p:txBody>
      </p:sp>
      <p:sp>
        <p:nvSpPr>
          <p:cNvPr id="40" name="Shape 37"/>
          <p:cNvSpPr/>
          <p:nvPr/>
        </p:nvSpPr>
        <p:spPr>
          <a:xfrm>
            <a:off x="4679156" y="3266033"/>
            <a:ext cx="3893344" cy="747192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41" name="Shape 38"/>
          <p:cNvSpPr/>
          <p:nvPr/>
        </p:nvSpPr>
        <p:spPr>
          <a:xfrm>
            <a:off x="4679156" y="3266033"/>
            <a:ext cx="3893344" cy="142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2" name="Shape 39"/>
          <p:cNvSpPr/>
          <p:nvPr/>
        </p:nvSpPr>
        <p:spPr>
          <a:xfrm>
            <a:off x="8558213" y="3266033"/>
            <a:ext cx="14288" cy="74719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3" name="Shape 40"/>
          <p:cNvSpPr/>
          <p:nvPr/>
        </p:nvSpPr>
        <p:spPr>
          <a:xfrm>
            <a:off x="4679156" y="3998937"/>
            <a:ext cx="3893344" cy="142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4" name="Shape 41"/>
          <p:cNvSpPr/>
          <p:nvPr/>
        </p:nvSpPr>
        <p:spPr>
          <a:xfrm>
            <a:off x="4679156" y="3266033"/>
            <a:ext cx="35719" cy="74719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5" name="Text 42"/>
          <p:cNvSpPr/>
          <p:nvPr/>
        </p:nvSpPr>
        <p:spPr>
          <a:xfrm>
            <a:off x="4786313" y="3373189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📋 Coleção: Histórico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4786313" y="3580358"/>
            <a:ext cx="367903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0288D1"/>
                </a:solidFill>
              </a:rPr>
              <a:t>Campos: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 Timestamp, tipo de operação (empréstimo/devolução/reserva), usuário,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livro, detalhes da ação.</a:t>
            </a:r>
            <a:endParaRPr lang="en-US" sz="634" dirty="0"/>
          </a:p>
        </p:txBody>
      </p:sp>
      <p:sp>
        <p:nvSpPr>
          <p:cNvPr id="47" name="Shape 44"/>
          <p:cNvSpPr/>
          <p:nvPr/>
        </p:nvSpPr>
        <p:spPr>
          <a:xfrm>
            <a:off x="4679156" y="4177531"/>
            <a:ext cx="3893344" cy="721519"/>
          </a:xfrm>
          <a:prstGeom prst="rect">
            <a:avLst/>
          </a:prstGeom>
          <a:solidFill>
            <a:srgbClr val="FFF3E0"/>
          </a:solidFill>
          <a:ln w="18288">
            <a:solidFill>
              <a:srgbClr val="0288D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86313" y="4284687"/>
            <a:ext cx="367903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0288D1"/>
                </a:solidFill>
              </a:rPr>
              <a:t>✓ Vantagem Estratégica</a:t>
            </a:r>
            <a:endParaRPr lang="en-US" sz="584" dirty="0"/>
          </a:p>
        </p:txBody>
      </p:sp>
      <p:sp>
        <p:nvSpPr>
          <p:cNvPr id="49" name="Text 46"/>
          <p:cNvSpPr/>
          <p:nvPr/>
        </p:nvSpPr>
        <p:spPr>
          <a:xfrm>
            <a:off x="4786313" y="4484712"/>
            <a:ext cx="367903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Dados mutáveis e estruturas dinâmicas são gerenciadas com agilidade, permitindo evolução do sistema sem downtime.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807244"/>
            <a:ext cx="8001000" cy="21431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Funcionalidades Principais do Sistema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1057275"/>
            <a:ext cx="2571750" cy="1793081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057275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8" name="Shape 5"/>
          <p:cNvSpPr/>
          <p:nvPr/>
        </p:nvSpPr>
        <p:spPr>
          <a:xfrm>
            <a:off x="3128963" y="1057275"/>
            <a:ext cx="14288" cy="1793081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836069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1057275"/>
            <a:ext cx="35719" cy="179308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Shape 8"/>
          <p:cNvSpPr/>
          <p:nvPr/>
        </p:nvSpPr>
        <p:spPr>
          <a:xfrm>
            <a:off x="2828925" y="1143000"/>
            <a:ext cx="228600" cy="22860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2" name="Text 9"/>
          <p:cNvSpPr/>
          <p:nvPr/>
        </p:nvSpPr>
        <p:spPr>
          <a:xfrm>
            <a:off x="2828925" y="1143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714375" y="1200150"/>
            <a:ext cx="2286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📚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714375" y="1528763"/>
            <a:ext cx="2286000" cy="171450"/>
          </a:xfrm>
          <a:prstGeom prst="rect">
            <a:avLst/>
          </a:prstGeom>
          <a:noFill/>
          <a:ln/>
        </p:spPr>
        <p:txBody>
          <a:bodyPr wrap="none" lIns="0" tIns="0" rIns="340233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Gerenciamento de Acervo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714375" y="1785938"/>
            <a:ext cx="2286000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Cadastro, edição, exclusão e consulta de livros com metadados completos (título, autor, gênero, ano, quantidade).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3286125" y="1057275"/>
            <a:ext cx="2571750" cy="1793081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286125" y="1057275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8" name="Shape 15"/>
          <p:cNvSpPr/>
          <p:nvPr/>
        </p:nvSpPr>
        <p:spPr>
          <a:xfrm>
            <a:off x="5843588" y="1057275"/>
            <a:ext cx="14288" cy="1793081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9" name="Shape 16"/>
          <p:cNvSpPr/>
          <p:nvPr/>
        </p:nvSpPr>
        <p:spPr>
          <a:xfrm>
            <a:off x="3286125" y="2836069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0" name="Shape 17"/>
          <p:cNvSpPr/>
          <p:nvPr/>
        </p:nvSpPr>
        <p:spPr>
          <a:xfrm>
            <a:off x="3286125" y="1057275"/>
            <a:ext cx="35719" cy="179308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Shape 18"/>
          <p:cNvSpPr/>
          <p:nvPr/>
        </p:nvSpPr>
        <p:spPr>
          <a:xfrm>
            <a:off x="5543550" y="1143000"/>
            <a:ext cx="228600" cy="22860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22" name="Text 19"/>
          <p:cNvSpPr/>
          <p:nvPr/>
        </p:nvSpPr>
        <p:spPr>
          <a:xfrm>
            <a:off x="5543550" y="1143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3429000" y="1200150"/>
            <a:ext cx="2286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🔄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3429000" y="1528763"/>
            <a:ext cx="2286000" cy="171450"/>
          </a:xfrm>
          <a:prstGeom prst="rect">
            <a:avLst/>
          </a:prstGeom>
          <a:noFill/>
          <a:ln/>
        </p:spPr>
        <p:txBody>
          <a:bodyPr wrap="none" lIns="0" tIns="0" rIns="340233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Controle de Avaliação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3429000" y="1785938"/>
            <a:ext cx="2286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Solicitação, controle de prazos, histórico de empréstimos e gerenciamento de devoluções com notificações.</a:t>
            </a:r>
            <a:endParaRPr lang="en-US" sz="674" dirty="0"/>
          </a:p>
        </p:txBody>
      </p:sp>
      <p:sp>
        <p:nvSpPr>
          <p:cNvPr id="26" name="Shape 23"/>
          <p:cNvSpPr/>
          <p:nvPr/>
        </p:nvSpPr>
        <p:spPr>
          <a:xfrm>
            <a:off x="6000750" y="1057275"/>
            <a:ext cx="2571750" cy="1778794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27" name="Shape 24"/>
          <p:cNvSpPr/>
          <p:nvPr/>
        </p:nvSpPr>
        <p:spPr>
          <a:xfrm>
            <a:off x="6000750" y="1057275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8" name="Shape 25"/>
          <p:cNvSpPr/>
          <p:nvPr/>
        </p:nvSpPr>
        <p:spPr>
          <a:xfrm>
            <a:off x="8558213" y="1057275"/>
            <a:ext cx="14288" cy="1778794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9" name="Shape 26"/>
          <p:cNvSpPr/>
          <p:nvPr/>
        </p:nvSpPr>
        <p:spPr>
          <a:xfrm>
            <a:off x="6000750" y="2821781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0" name="Shape 27"/>
          <p:cNvSpPr/>
          <p:nvPr/>
        </p:nvSpPr>
        <p:spPr>
          <a:xfrm>
            <a:off x="6000750" y="1057275"/>
            <a:ext cx="35719" cy="177879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1" name="Shape 28"/>
          <p:cNvSpPr/>
          <p:nvPr/>
        </p:nvSpPr>
        <p:spPr>
          <a:xfrm>
            <a:off x="8258175" y="1143000"/>
            <a:ext cx="228600" cy="22860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32" name="Text 29"/>
          <p:cNvSpPr/>
          <p:nvPr/>
        </p:nvSpPr>
        <p:spPr>
          <a:xfrm>
            <a:off x="8258175" y="1143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6143625" y="1200150"/>
            <a:ext cx="2286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⏳</a:t>
            </a:r>
            <a:endParaRPr lang="en-US" sz="1269" dirty="0"/>
          </a:p>
        </p:txBody>
      </p:sp>
      <p:sp>
        <p:nvSpPr>
          <p:cNvPr id="34" name="Text 31"/>
          <p:cNvSpPr/>
          <p:nvPr/>
        </p:nvSpPr>
        <p:spPr>
          <a:xfrm>
            <a:off x="6143625" y="1528763"/>
            <a:ext cx="2286000" cy="171450"/>
          </a:xfrm>
          <a:prstGeom prst="rect">
            <a:avLst/>
          </a:prstGeom>
          <a:noFill/>
          <a:ln/>
        </p:spPr>
        <p:txBody>
          <a:bodyPr wrap="none" lIns="0" tIns="0" rIns="340233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Sistema de Reservas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6143625" y="1785938"/>
            <a:ext cx="2286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Reserva de livros indisponíveis com fila de espera automática e notificação de disponibilidade.</a:t>
            </a:r>
            <a:endParaRPr lang="en-US" sz="674" dirty="0"/>
          </a:p>
        </p:txBody>
      </p:sp>
      <p:sp>
        <p:nvSpPr>
          <p:cNvPr id="36" name="Shape 33"/>
          <p:cNvSpPr/>
          <p:nvPr/>
        </p:nvSpPr>
        <p:spPr>
          <a:xfrm>
            <a:off x="571500" y="2978944"/>
            <a:ext cx="2571750" cy="1807369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37" name="Shape 34"/>
          <p:cNvSpPr/>
          <p:nvPr/>
        </p:nvSpPr>
        <p:spPr>
          <a:xfrm>
            <a:off x="571500" y="2978944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8" name="Shape 35"/>
          <p:cNvSpPr/>
          <p:nvPr/>
        </p:nvSpPr>
        <p:spPr>
          <a:xfrm>
            <a:off x="3128963" y="2978944"/>
            <a:ext cx="14288" cy="1807369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9" name="Shape 36"/>
          <p:cNvSpPr/>
          <p:nvPr/>
        </p:nvSpPr>
        <p:spPr>
          <a:xfrm>
            <a:off x="571500" y="4772025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40" name="Shape 37"/>
          <p:cNvSpPr/>
          <p:nvPr/>
        </p:nvSpPr>
        <p:spPr>
          <a:xfrm>
            <a:off x="571500" y="2978944"/>
            <a:ext cx="35719" cy="1807369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1" name="Shape 38"/>
          <p:cNvSpPr/>
          <p:nvPr/>
        </p:nvSpPr>
        <p:spPr>
          <a:xfrm>
            <a:off x="2828925" y="3064669"/>
            <a:ext cx="228600" cy="22860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42" name="Text 39"/>
          <p:cNvSpPr/>
          <p:nvPr/>
        </p:nvSpPr>
        <p:spPr>
          <a:xfrm>
            <a:off x="2828925" y="306466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714375" y="3121819"/>
            <a:ext cx="2286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🔐</a:t>
            </a:r>
            <a:endParaRPr lang="en-US" sz="1269" dirty="0"/>
          </a:p>
        </p:txBody>
      </p:sp>
      <p:sp>
        <p:nvSpPr>
          <p:cNvPr id="44" name="Text 41"/>
          <p:cNvSpPr/>
          <p:nvPr/>
        </p:nvSpPr>
        <p:spPr>
          <a:xfrm>
            <a:off x="714375" y="3450431"/>
            <a:ext cx="2286000" cy="171450"/>
          </a:xfrm>
          <a:prstGeom prst="rect">
            <a:avLst/>
          </a:prstGeom>
          <a:noFill/>
          <a:ln/>
        </p:spPr>
        <p:txBody>
          <a:bodyPr wrap="none" lIns="0" tIns="0" rIns="340233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Autenticação e Autorização</a:t>
            </a:r>
            <a:endParaRPr lang="en-US" sz="784" dirty="0"/>
          </a:p>
        </p:txBody>
      </p:sp>
      <p:sp>
        <p:nvSpPr>
          <p:cNvPr id="45" name="Text 42"/>
          <p:cNvSpPr/>
          <p:nvPr/>
        </p:nvSpPr>
        <p:spPr>
          <a:xfrm>
            <a:off x="714375" y="3707606"/>
            <a:ext cx="2286000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Login seguro com JWT, diferentes níveis de acesso (Administrador, Bibliotecário, Usuário Comum) e controle de permissões.</a:t>
            </a:r>
            <a:endParaRPr lang="en-US" sz="674" dirty="0"/>
          </a:p>
        </p:txBody>
      </p:sp>
      <p:sp>
        <p:nvSpPr>
          <p:cNvPr id="46" name="Shape 43"/>
          <p:cNvSpPr/>
          <p:nvPr/>
        </p:nvSpPr>
        <p:spPr>
          <a:xfrm>
            <a:off x="3286125" y="2978944"/>
            <a:ext cx="2571750" cy="1807369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47" name="Shape 44"/>
          <p:cNvSpPr/>
          <p:nvPr/>
        </p:nvSpPr>
        <p:spPr>
          <a:xfrm>
            <a:off x="3286125" y="2978944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48" name="Shape 45"/>
          <p:cNvSpPr/>
          <p:nvPr/>
        </p:nvSpPr>
        <p:spPr>
          <a:xfrm>
            <a:off x="5843588" y="2978944"/>
            <a:ext cx="14288" cy="1807369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49" name="Shape 46"/>
          <p:cNvSpPr/>
          <p:nvPr/>
        </p:nvSpPr>
        <p:spPr>
          <a:xfrm>
            <a:off x="3286125" y="4772025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0" name="Shape 47"/>
          <p:cNvSpPr/>
          <p:nvPr/>
        </p:nvSpPr>
        <p:spPr>
          <a:xfrm>
            <a:off x="3286125" y="2978944"/>
            <a:ext cx="35719" cy="1807369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1" name="Shape 48"/>
          <p:cNvSpPr/>
          <p:nvPr/>
        </p:nvSpPr>
        <p:spPr>
          <a:xfrm>
            <a:off x="5543550" y="3064669"/>
            <a:ext cx="228600" cy="22860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52" name="Text 49"/>
          <p:cNvSpPr/>
          <p:nvPr/>
        </p:nvSpPr>
        <p:spPr>
          <a:xfrm>
            <a:off x="5543550" y="306466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5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3429000" y="3121819"/>
            <a:ext cx="2286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📊</a:t>
            </a:r>
            <a:endParaRPr lang="en-US" sz="1269" dirty="0"/>
          </a:p>
        </p:txBody>
      </p:sp>
      <p:sp>
        <p:nvSpPr>
          <p:cNvPr id="54" name="Text 51"/>
          <p:cNvSpPr/>
          <p:nvPr/>
        </p:nvSpPr>
        <p:spPr>
          <a:xfrm>
            <a:off x="3429000" y="3450431"/>
            <a:ext cx="2286000" cy="171450"/>
          </a:xfrm>
          <a:prstGeom prst="rect">
            <a:avLst/>
          </a:prstGeom>
          <a:noFill/>
          <a:ln/>
        </p:spPr>
        <p:txBody>
          <a:bodyPr wrap="none" lIns="0" tIns="0" rIns="340233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Painel Administrativo</a:t>
            </a:r>
            <a:endParaRPr lang="en-US" sz="784" dirty="0"/>
          </a:p>
        </p:txBody>
      </p:sp>
      <p:sp>
        <p:nvSpPr>
          <p:cNvPr id="55" name="Text 52"/>
          <p:cNvSpPr/>
          <p:nvPr/>
        </p:nvSpPr>
        <p:spPr>
          <a:xfrm>
            <a:off x="3429000" y="3707606"/>
            <a:ext cx="2286000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Gestão de usuários, geração de relatórios de empréstimos e reservas, controle de estoque em tempo real.</a:t>
            </a:r>
            <a:endParaRPr lang="en-US" sz="674" dirty="0"/>
          </a:p>
        </p:txBody>
      </p:sp>
      <p:sp>
        <p:nvSpPr>
          <p:cNvPr id="56" name="Shape 53"/>
          <p:cNvSpPr/>
          <p:nvPr/>
        </p:nvSpPr>
        <p:spPr>
          <a:xfrm>
            <a:off x="6000750" y="2978944"/>
            <a:ext cx="2571750" cy="1807369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57" name="Shape 54"/>
          <p:cNvSpPr/>
          <p:nvPr/>
        </p:nvSpPr>
        <p:spPr>
          <a:xfrm>
            <a:off x="6000750" y="2978944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8" name="Shape 55"/>
          <p:cNvSpPr/>
          <p:nvPr/>
        </p:nvSpPr>
        <p:spPr>
          <a:xfrm>
            <a:off x="8558213" y="2978944"/>
            <a:ext cx="14288" cy="1807369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9" name="Shape 56"/>
          <p:cNvSpPr/>
          <p:nvPr/>
        </p:nvSpPr>
        <p:spPr>
          <a:xfrm>
            <a:off x="6000750" y="4772025"/>
            <a:ext cx="2571750" cy="1428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60" name="Shape 57"/>
          <p:cNvSpPr/>
          <p:nvPr/>
        </p:nvSpPr>
        <p:spPr>
          <a:xfrm>
            <a:off x="6000750" y="2978944"/>
            <a:ext cx="35719" cy="1807369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1" name="Shape 58"/>
          <p:cNvSpPr/>
          <p:nvPr/>
        </p:nvSpPr>
        <p:spPr>
          <a:xfrm>
            <a:off x="8258175" y="3078956"/>
            <a:ext cx="228600" cy="22860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62" name="Text 59"/>
          <p:cNvSpPr/>
          <p:nvPr/>
        </p:nvSpPr>
        <p:spPr>
          <a:xfrm>
            <a:off x="8258175" y="30789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6</a:t>
            </a:r>
            <a:endParaRPr lang="en-US" sz="683" dirty="0"/>
          </a:p>
        </p:txBody>
      </p:sp>
      <p:sp>
        <p:nvSpPr>
          <p:cNvPr id="63" name="Text 60"/>
          <p:cNvSpPr/>
          <p:nvPr/>
        </p:nvSpPr>
        <p:spPr>
          <a:xfrm>
            <a:off x="6143625" y="3136106"/>
            <a:ext cx="2286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🔍</a:t>
            </a:r>
            <a:endParaRPr lang="en-US" sz="1269" dirty="0"/>
          </a:p>
        </p:txBody>
      </p:sp>
      <p:sp>
        <p:nvSpPr>
          <p:cNvPr id="64" name="Text 61"/>
          <p:cNvSpPr/>
          <p:nvPr/>
        </p:nvSpPr>
        <p:spPr>
          <a:xfrm>
            <a:off x="6143625" y="3464719"/>
            <a:ext cx="2286000" cy="171450"/>
          </a:xfrm>
          <a:prstGeom prst="rect">
            <a:avLst/>
          </a:prstGeom>
          <a:noFill/>
          <a:ln/>
        </p:spPr>
        <p:txBody>
          <a:bodyPr wrap="none" lIns="0" tIns="0" rIns="340233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Busca e Filtros</a:t>
            </a:r>
            <a:endParaRPr lang="en-US" sz="784" dirty="0"/>
          </a:p>
        </p:txBody>
      </p:sp>
      <p:sp>
        <p:nvSpPr>
          <p:cNvPr id="65" name="Text 62"/>
          <p:cNvSpPr/>
          <p:nvPr/>
        </p:nvSpPr>
        <p:spPr>
          <a:xfrm>
            <a:off x="6143625" y="3721894"/>
            <a:ext cx="2286000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Pesquisa avançada por título, autor e gênero, com filtros e ordenação para facilitar navegação no acervo.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028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807244"/>
            <a:ext cx="8001000" cy="21431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8001000" cy="471488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Conclusão e Impacto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1021556"/>
            <a:ext cx="8001000" cy="1821656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021556"/>
            <a:ext cx="35719" cy="1821656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8" name="Text 5"/>
          <p:cNvSpPr/>
          <p:nvPr/>
        </p:nvSpPr>
        <p:spPr>
          <a:xfrm>
            <a:off x="750094" y="1164431"/>
            <a:ext cx="76438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0288D1"/>
                </a:solidFill>
              </a:rPr>
              <a:t>Resultados Alcançados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750094" y="1350169"/>
            <a:ext cx="76438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Validação da Arquitetura Fullstack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750094" y="1628775"/>
            <a:ext cx="3768328" cy="4822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750094" y="1628775"/>
            <a:ext cx="3768328" cy="71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Shape 9"/>
          <p:cNvSpPr/>
          <p:nvPr/>
        </p:nvSpPr>
        <p:spPr>
          <a:xfrm>
            <a:off x="4511278" y="1628775"/>
            <a:ext cx="7144" cy="482203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Shape 10"/>
          <p:cNvSpPr/>
          <p:nvPr/>
        </p:nvSpPr>
        <p:spPr>
          <a:xfrm>
            <a:off x="750094" y="2103834"/>
            <a:ext cx="3768328" cy="71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Shape 11"/>
          <p:cNvSpPr/>
          <p:nvPr/>
        </p:nvSpPr>
        <p:spPr>
          <a:xfrm>
            <a:off x="750094" y="1628775"/>
            <a:ext cx="21431" cy="482203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2"/>
          <p:cNvSpPr/>
          <p:nvPr/>
        </p:nvSpPr>
        <p:spPr>
          <a:xfrm>
            <a:off x="857250" y="1714500"/>
            <a:ext cx="35540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0897B"/>
                </a:solidFill>
              </a:rPr>
              <a:t>✓ Integração Híbrida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857250" y="1877020"/>
            <a:ext cx="30045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MySQL e MongoDB funcionando de forma coerente e complementar.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4625578" y="1628775"/>
            <a:ext cx="3768328" cy="4822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625578" y="1628775"/>
            <a:ext cx="3768328" cy="71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Shape 16"/>
          <p:cNvSpPr/>
          <p:nvPr/>
        </p:nvSpPr>
        <p:spPr>
          <a:xfrm>
            <a:off x="8386763" y="1628775"/>
            <a:ext cx="7144" cy="482203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Shape 17"/>
          <p:cNvSpPr/>
          <p:nvPr/>
        </p:nvSpPr>
        <p:spPr>
          <a:xfrm>
            <a:off x="4625578" y="2103834"/>
            <a:ext cx="3768328" cy="71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Shape 18"/>
          <p:cNvSpPr/>
          <p:nvPr/>
        </p:nvSpPr>
        <p:spPr>
          <a:xfrm>
            <a:off x="4625578" y="1628775"/>
            <a:ext cx="21431" cy="482203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Text 19"/>
          <p:cNvSpPr/>
          <p:nvPr/>
        </p:nvSpPr>
        <p:spPr>
          <a:xfrm>
            <a:off x="4732734" y="1714500"/>
            <a:ext cx="35540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0897B"/>
                </a:solidFill>
              </a:rPr>
              <a:t>✓ API RESTful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732734" y="1877020"/>
            <a:ext cx="26501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Endpoints bem definidos com segurança JWT implementada.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750094" y="2203847"/>
            <a:ext cx="3768328" cy="4822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750094" y="2203847"/>
            <a:ext cx="3768328" cy="71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Shape 23"/>
          <p:cNvSpPr/>
          <p:nvPr/>
        </p:nvSpPr>
        <p:spPr>
          <a:xfrm>
            <a:off x="4511278" y="2203847"/>
            <a:ext cx="7144" cy="482203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7" name="Shape 24"/>
          <p:cNvSpPr/>
          <p:nvPr/>
        </p:nvSpPr>
        <p:spPr>
          <a:xfrm>
            <a:off x="750094" y="2678906"/>
            <a:ext cx="3768328" cy="71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8" name="Shape 25"/>
          <p:cNvSpPr/>
          <p:nvPr/>
        </p:nvSpPr>
        <p:spPr>
          <a:xfrm>
            <a:off x="750094" y="2203847"/>
            <a:ext cx="21431" cy="482203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9" name="Text 26"/>
          <p:cNvSpPr/>
          <p:nvPr/>
        </p:nvSpPr>
        <p:spPr>
          <a:xfrm>
            <a:off x="857250" y="2289572"/>
            <a:ext cx="35540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0897B"/>
                </a:solidFill>
              </a:rPr>
              <a:t>✓ Interface Responsiva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857250" y="2452092"/>
            <a:ext cx="29421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Frontend React com componentes dinâmicos e navegação intuitiva.</a:t>
            </a:r>
            <a:endParaRPr lang="en-US" sz="674" dirty="0"/>
          </a:p>
        </p:txBody>
      </p:sp>
      <p:sp>
        <p:nvSpPr>
          <p:cNvPr id="31" name="Shape 28"/>
          <p:cNvSpPr/>
          <p:nvPr/>
        </p:nvSpPr>
        <p:spPr>
          <a:xfrm>
            <a:off x="4625578" y="2203847"/>
            <a:ext cx="3768328" cy="4822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4625578" y="2203847"/>
            <a:ext cx="3768328" cy="71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3" name="Shape 30"/>
          <p:cNvSpPr/>
          <p:nvPr/>
        </p:nvSpPr>
        <p:spPr>
          <a:xfrm>
            <a:off x="8386763" y="2203847"/>
            <a:ext cx="7144" cy="482203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4" name="Shape 31"/>
          <p:cNvSpPr/>
          <p:nvPr/>
        </p:nvSpPr>
        <p:spPr>
          <a:xfrm>
            <a:off x="4625578" y="2678906"/>
            <a:ext cx="3768328" cy="714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5" name="Shape 32"/>
          <p:cNvSpPr/>
          <p:nvPr/>
        </p:nvSpPr>
        <p:spPr>
          <a:xfrm>
            <a:off x="4625578" y="2203847"/>
            <a:ext cx="21431" cy="482203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6" name="Text 33"/>
          <p:cNvSpPr/>
          <p:nvPr/>
        </p:nvSpPr>
        <p:spPr>
          <a:xfrm>
            <a:off x="4732734" y="2289572"/>
            <a:ext cx="35540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0897B"/>
                </a:solidFill>
              </a:rPr>
              <a:t>✓ Controle de Acesso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4732734" y="2452092"/>
            <a:ext cx="27678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Autenticação e autorização com diferentes níveis de permissão.</a:t>
            </a:r>
            <a:endParaRPr lang="en-US" sz="674" dirty="0"/>
          </a:p>
        </p:txBody>
      </p:sp>
      <p:sp>
        <p:nvSpPr>
          <p:cNvPr id="38" name="Shape 35"/>
          <p:cNvSpPr/>
          <p:nvPr/>
        </p:nvSpPr>
        <p:spPr>
          <a:xfrm>
            <a:off x="571500" y="3178969"/>
            <a:ext cx="8001000" cy="1610916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39" name="Shape 36"/>
          <p:cNvSpPr/>
          <p:nvPr/>
        </p:nvSpPr>
        <p:spPr>
          <a:xfrm>
            <a:off x="571500" y="3178969"/>
            <a:ext cx="35719" cy="161091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0" name="Text 37"/>
          <p:cNvSpPr/>
          <p:nvPr/>
        </p:nvSpPr>
        <p:spPr>
          <a:xfrm>
            <a:off x="750094" y="3321844"/>
            <a:ext cx="76438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0288D1"/>
                </a:solidFill>
              </a:rPr>
              <a:t>Impactos e Benefícios</a:t>
            </a:r>
            <a:endParaRPr lang="en-US" sz="584" dirty="0"/>
          </a:p>
        </p:txBody>
      </p:sp>
      <p:sp>
        <p:nvSpPr>
          <p:cNvPr id="41" name="Text 38"/>
          <p:cNvSpPr/>
          <p:nvPr/>
        </p:nvSpPr>
        <p:spPr>
          <a:xfrm>
            <a:off x="750094" y="3507581"/>
            <a:ext cx="76438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Vantagens da Solução Implementada</a:t>
            </a:r>
            <a:endParaRPr lang="en-US" sz="885" dirty="0"/>
          </a:p>
        </p:txBody>
      </p:sp>
      <p:sp>
        <p:nvSpPr>
          <p:cNvPr id="42" name="Shape 39"/>
          <p:cNvSpPr/>
          <p:nvPr/>
        </p:nvSpPr>
        <p:spPr>
          <a:xfrm>
            <a:off x="750094" y="3786188"/>
            <a:ext cx="2490769" cy="860822"/>
          </a:xfrm>
          <a:prstGeom prst="rect">
            <a:avLst/>
          </a:prstGeom>
          <a:solidFill>
            <a:srgbClr val="FFFFFF"/>
          </a:solidFill>
          <a:ln w="9144">
            <a:solidFill>
              <a:srgbClr val="0288D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57250" y="3871913"/>
            <a:ext cx="22764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⚡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1690948" y="4134445"/>
            <a:ext cx="60906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Desempenho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992981" y="4273748"/>
            <a:ext cx="200496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Consultas otimizadas em ambos os bancos de</a:t>
            </a:r>
            <a:endParaRPr lang="en-US" sz="674" dirty="0"/>
          </a:p>
        </p:txBody>
      </p:sp>
      <p:sp>
        <p:nvSpPr>
          <p:cNvPr id="46" name="Text 43"/>
          <p:cNvSpPr/>
          <p:nvPr/>
        </p:nvSpPr>
        <p:spPr>
          <a:xfrm>
            <a:off x="1849534" y="4413052"/>
            <a:ext cx="29188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dados.</a:t>
            </a:r>
            <a:endParaRPr lang="en-US" sz="674" dirty="0"/>
          </a:p>
        </p:txBody>
      </p:sp>
      <p:sp>
        <p:nvSpPr>
          <p:cNvPr id="47" name="Shape 44"/>
          <p:cNvSpPr/>
          <p:nvPr/>
        </p:nvSpPr>
        <p:spPr>
          <a:xfrm>
            <a:off x="3326588" y="3786188"/>
            <a:ext cx="2490797" cy="846534"/>
          </a:xfrm>
          <a:prstGeom prst="rect">
            <a:avLst/>
          </a:prstGeom>
          <a:solidFill>
            <a:srgbClr val="FFFFFF"/>
          </a:solidFill>
          <a:ln w="9144">
            <a:solidFill>
              <a:srgbClr val="0288D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433744" y="3871913"/>
            <a:ext cx="22764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📈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4242606" y="4134445"/>
            <a:ext cx="6587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Escalabilidade</a:t>
            </a:r>
            <a:endParaRPr lang="en-US" sz="634" dirty="0"/>
          </a:p>
        </p:txBody>
      </p:sp>
      <p:sp>
        <p:nvSpPr>
          <p:cNvPr id="50" name="Text 47"/>
          <p:cNvSpPr/>
          <p:nvPr/>
        </p:nvSpPr>
        <p:spPr>
          <a:xfrm>
            <a:off x="3563699" y="4273748"/>
            <a:ext cx="20165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Arquitetura modular pronta para crescimento.</a:t>
            </a:r>
            <a:endParaRPr lang="en-US" sz="674" dirty="0"/>
          </a:p>
        </p:txBody>
      </p:sp>
      <p:sp>
        <p:nvSpPr>
          <p:cNvPr id="51" name="Shape 48"/>
          <p:cNvSpPr/>
          <p:nvPr/>
        </p:nvSpPr>
        <p:spPr>
          <a:xfrm>
            <a:off x="5903109" y="3786188"/>
            <a:ext cx="2490769" cy="846534"/>
          </a:xfrm>
          <a:prstGeom prst="rect">
            <a:avLst/>
          </a:prstGeom>
          <a:solidFill>
            <a:srgbClr val="FFFFFF"/>
          </a:solidFill>
          <a:ln w="9144">
            <a:solidFill>
              <a:srgbClr val="0288D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010266" y="3871913"/>
            <a:ext cx="22764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🔒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6904937" y="4134445"/>
            <a:ext cx="4871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7474F"/>
                </a:solidFill>
              </a:rPr>
              <a:t>Segurança</a:t>
            </a:r>
            <a:endParaRPr lang="en-US" sz="634" dirty="0"/>
          </a:p>
        </p:txBody>
      </p:sp>
      <p:sp>
        <p:nvSpPr>
          <p:cNvPr id="54" name="Text 51"/>
          <p:cNvSpPr/>
          <p:nvPr/>
        </p:nvSpPr>
        <p:spPr>
          <a:xfrm>
            <a:off x="6020284" y="4273748"/>
            <a:ext cx="180957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Autenticação JWT e integridade de dados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7829857" y="4273748"/>
            <a:ext cx="4468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7474F"/>
                </a:solidFill>
              </a:rPr>
              <a:t>garantida.</a:t>
            </a:r>
            <a:endParaRPr lang="en-US" sz="674" dirty="0"/>
          </a:p>
        </p:txBody>
      </p:sp>
      <p:sp>
        <p:nvSpPr>
          <p:cNvPr id="56" name="Shape 53"/>
          <p:cNvSpPr/>
          <p:nvPr/>
        </p:nvSpPr>
        <p:spPr>
          <a:xfrm>
            <a:off x="571500" y="4918472"/>
            <a:ext cx="8001000" cy="562905"/>
          </a:xfrm>
          <a:prstGeom prst="rect">
            <a:avLst/>
          </a:prstGeom>
          <a:solidFill>
            <a:srgbClr val="FFFFFF"/>
          </a:solidFill>
          <a:ln w="18288">
            <a:solidFill>
              <a:srgbClr val="1A237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71500" y="4918472"/>
            <a:ext cx="8001000" cy="56290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37474F"/>
                </a:solidFill>
              </a:rPr>
              <a:t>O projeto validou com sucesso a eficácia de uma arquitetura fullstack moderna, demonstrando como a integração equilibrada de tecnologias relacionais e não relacionais resulta em uma solução eficiente, segura e facilmente mantível para ambientes bibliotecários reais.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2025-11-18T12:52:07Z</dcterms:created>
  <dcterms:modified xsi:type="dcterms:W3CDTF">2025-11-18T12:52:07Z</dcterms:modified>
</cp:coreProperties>
</file>